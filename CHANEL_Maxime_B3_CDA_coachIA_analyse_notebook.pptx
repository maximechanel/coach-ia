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ED870-A3E0-347F-FE2E-5F9D2387C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48F42D-9F4B-AAA7-E4B7-318C3E1EE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3CBDC8-B611-62AE-7603-0F85E0D17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F0F01E-5351-4EC2-D88B-D18CAE77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6BF76A-240B-34A2-E11E-B70ECFD2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74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0ED0D-3E88-142E-1489-54801EB04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0E69ED-4444-DA78-EC7C-037A87D7D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851BD-8CF8-7204-CB24-257B441D0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F9A775-F276-24A4-B012-F264A45DC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F273F9-C079-8E73-ECD0-EE807BC9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9895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A59065-9FAB-DCEE-846D-E69211115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D9A2D0-F39D-5EB7-42A1-2A07862A3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432D4B-E1BB-3F05-3A9C-99C9FB11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C631EF-CD69-E795-2459-0D93E3B2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EACD3F-9B9B-6615-F79E-01DAE53D2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325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5A8873-2ACD-F5BF-A44C-24DAA2CB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7788EA-C5BA-AF5E-5AB8-176961607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9E7C18-78AE-E581-79A3-F2AE8C59D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32BAD2-157D-006B-3314-2AE8E021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7D9736-149E-6874-5E86-223C9D38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A43FE9-2578-850C-0D23-E1A4F244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234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CCE168-5322-58A3-0896-DDF91C94F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55773C-8CD9-1B14-213B-A72237820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D0CB1BA-8E02-36E4-CD30-B41D3C580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E880AE1-ED7F-50CD-FE27-1F07F3A5B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ED42000-AFC8-D971-0FBC-72E9DB000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B3399B1-897C-05E3-2DD0-D8D24860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016B8D1-BDD1-C500-DACA-CD2E3DAB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BFFBA58-B278-BD8B-D45F-FA0133030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8670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180AF1-10E1-7E44-027B-EB51185D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6EF8A81-79E1-B4EE-4961-0B2A49F0A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BB2D18-2064-E437-7E62-897E9C088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A6A96D-D0EF-B422-FB86-683CEDDA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271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AB4027F-3CD7-BC29-5A26-A46AABE2E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74125B-86F3-5B9C-6433-55513EDBA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049868-9B76-9E79-97B8-93172385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73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E1B64C-2D43-BC65-BF27-FB98D1795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F03625-8784-A8EB-B6AD-A212051B2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E71C1D-EECC-77F2-66C3-42474C80A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703265-3AD8-6805-0C7A-56BC2462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566B17-8AD5-4402-A70B-4D002AD1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1B2035-549D-E534-6F00-33CF6DF2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175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BCF77D-B4E4-B499-3B60-D46B295E0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3234001-2023-C329-07B8-0E471916D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CCC7F3D-A67E-ABFE-DFAD-9F96176E6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47BE61-0E5E-4BDE-A1F8-8C8B8CC6C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01A199-C170-3051-6469-1F375728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F21F1F-B888-E38B-26F7-674658B8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9038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7EBA5B-2AA3-D949-04D9-C949ACA7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0F2DE0E-EB49-3EF5-B9DE-4901B69B9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A5A2B4-CDA4-E25C-5484-5742F7116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81E3FF-7968-78F3-A92A-8A463D88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B15C8A-0DDD-A5C0-637A-BFDE94BA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584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C3136E8-2FEF-6C74-53E5-8B2951B94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02EA286-73FF-F5F9-9BEB-8097DA343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ABE96C-07E0-17D0-0CE4-C77154117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6E025E-CA5F-FEC8-1F81-FB6EC6F67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FD0B87-CFAD-56C7-F5E7-99D4F328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389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0DA40EB-CC6C-A76E-AA23-A8F9DD1A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9E6938-1BF2-D99B-BE82-BB1D5E7AF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FAF50-1BA8-6D70-AFEB-526BBCCCD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2AE09-EB88-4E50-8B7E-6DDCD8318F38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C13E94-6613-B331-B21C-08287CCD6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E236AE-8F0E-B88A-B293-0C75E6A5C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0C46C-60BC-4930-812A-0292EEF671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842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C04F6F-3576-A191-4C2C-2DB3AE53A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453" y="320257"/>
            <a:ext cx="9144000" cy="2387600"/>
          </a:xfrm>
        </p:spPr>
        <p:txBody>
          <a:bodyPr/>
          <a:lstStyle/>
          <a:p>
            <a:r>
              <a:rPr lang="fr-FR" dirty="0"/>
              <a:t>Coach IA bienveillant- Analyse du notebook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14C4EC-0E37-6485-828B-F4D9FBA55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453" y="2799932"/>
            <a:ext cx="9144000" cy="1655762"/>
          </a:xfrm>
        </p:spPr>
        <p:txBody>
          <a:bodyPr/>
          <a:lstStyle/>
          <a:p>
            <a:r>
              <a:rPr lang="fr-FR" dirty="0"/>
              <a:t>30/04/2026</a:t>
            </a:r>
          </a:p>
          <a:p>
            <a:endParaRPr lang="fr-FR" dirty="0"/>
          </a:p>
          <a:p>
            <a:r>
              <a:rPr lang="fr-FR" dirty="0"/>
              <a:t>Module APIE638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178266D-822A-0F2C-4740-993764271238}"/>
              </a:ext>
            </a:extLst>
          </p:cNvPr>
          <p:cNvSpPr txBox="1"/>
          <p:nvPr/>
        </p:nvSpPr>
        <p:spPr>
          <a:xfrm>
            <a:off x="81214" y="6431451"/>
            <a:ext cx="249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CHANEL Maxime B3 CDA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339EC56-890D-4D79-65B4-A6BBFC916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968" y="2886795"/>
            <a:ext cx="5478379" cy="365094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AA11432-E539-6D81-0285-5E7514C8779A}"/>
              </a:ext>
            </a:extLst>
          </p:cNvPr>
          <p:cNvSpPr txBox="1"/>
          <p:nvPr/>
        </p:nvSpPr>
        <p:spPr>
          <a:xfrm>
            <a:off x="11641661" y="6439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00185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C715F8-2563-DEB1-1C7D-6CDE85553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 problème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3D310D-50B6-D09C-394C-196CE6CE3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HealthAI</a:t>
            </a:r>
            <a:r>
              <a:rPr lang="fr-FR" dirty="0"/>
              <a:t> Coach -&gt; accompagnement sportif, surveillance indicateurs et proposition nutrition</a:t>
            </a:r>
          </a:p>
          <a:p>
            <a:endParaRPr lang="fr-FR" dirty="0"/>
          </a:p>
          <a:p>
            <a:r>
              <a:rPr lang="fr-FR" dirty="0"/>
              <a:t>Coach IA -&gt; + pratique car analyse données et sort les meilleurs solutions possibles en fonction de données</a:t>
            </a:r>
          </a:p>
          <a:p>
            <a:endParaRPr lang="fr-FR" dirty="0"/>
          </a:p>
          <a:p>
            <a:r>
              <a:rPr lang="fr-FR" dirty="0"/>
              <a:t>Détection signaux faibles -&gt; permet meilleur recommandation et + rapide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90CB68-C0A0-B729-172E-171744701FF7}"/>
              </a:ext>
            </a:extLst>
          </p:cNvPr>
          <p:cNvSpPr txBox="1"/>
          <p:nvPr/>
        </p:nvSpPr>
        <p:spPr>
          <a:xfrm>
            <a:off x="11641661" y="6439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34967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8D6B7D-431C-55D1-F881-42A5D484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28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Architecture globale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B1B2982-8704-BA04-D50E-ADD47BB26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600" y="1050943"/>
            <a:ext cx="992549" cy="575968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BDD2B49-36CC-DC80-2DB6-3DBAB9284F95}"/>
              </a:ext>
            </a:extLst>
          </p:cNvPr>
          <p:cNvSpPr txBox="1"/>
          <p:nvPr/>
        </p:nvSpPr>
        <p:spPr>
          <a:xfrm>
            <a:off x="11641661" y="6439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127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847FC-403E-2C80-B7F1-5FA5888B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LangChain</a:t>
            </a:r>
            <a:r>
              <a:rPr lang="fr-FR" dirty="0"/>
              <a:t> en 3 minutes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D85525-0D99-AFAD-03F7-B85648205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Concept </a:t>
            </a:r>
            <a:r>
              <a:rPr lang="fr-FR" dirty="0" err="1"/>
              <a:t>Runnable</a:t>
            </a:r>
            <a:r>
              <a:rPr lang="fr-FR" dirty="0"/>
              <a:t> : interface globale du </a:t>
            </a:r>
            <a:r>
              <a:rPr lang="fr-FR" dirty="0" err="1"/>
              <a:t>LangChain</a:t>
            </a:r>
            <a:r>
              <a:rPr lang="fr-FR" dirty="0"/>
              <a:t> avec tous les composants</a:t>
            </a:r>
          </a:p>
          <a:p>
            <a:endParaRPr lang="fr-FR" dirty="0"/>
          </a:p>
          <a:p>
            <a:r>
              <a:rPr lang="fr-FR" dirty="0"/>
              <a:t>Opérateur « | » (LCEL) : permet séparation des différents composants pour les chainer.</a:t>
            </a:r>
          </a:p>
          <a:p>
            <a:endParaRPr lang="fr-FR" dirty="0"/>
          </a:p>
          <a:p>
            <a:r>
              <a:rPr lang="fr-FR" dirty="0" err="1"/>
              <a:t>PromptTemplate</a:t>
            </a:r>
            <a:r>
              <a:rPr lang="fr-FR" dirty="0"/>
              <a:t> : permet de garder une base des prompt pour adapter ensuite les informations</a:t>
            </a:r>
          </a:p>
          <a:p>
            <a:endParaRPr lang="fr-FR" dirty="0"/>
          </a:p>
          <a:p>
            <a:r>
              <a:rPr lang="fr-FR" dirty="0" err="1"/>
              <a:t>With_structured_output</a:t>
            </a:r>
            <a:r>
              <a:rPr lang="fr-FR" dirty="0"/>
              <a:t>() : permet de renvoyer un objet entier avec plusieurs informations dedans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BA3DE05-1624-0EAD-CE2F-B5FE6C5F6756}"/>
              </a:ext>
            </a:extLst>
          </p:cNvPr>
          <p:cNvSpPr txBox="1"/>
          <p:nvPr/>
        </p:nvSpPr>
        <p:spPr>
          <a:xfrm>
            <a:off x="11641661" y="6439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63530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1DEA84-944E-F199-5C26-EFD46194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LanGraph</a:t>
            </a:r>
            <a:r>
              <a:rPr lang="fr-FR" dirty="0"/>
              <a:t> en 3 minutes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F16926-CF9C-FED0-F10A-9CBBD6EBA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Pourquoi ? -&gt; permet représenter graphiquement les différentes phases d’un </a:t>
            </a:r>
            <a:r>
              <a:rPr lang="fr-FR" dirty="0" err="1"/>
              <a:t>LangChain</a:t>
            </a:r>
            <a:r>
              <a:rPr lang="fr-FR" dirty="0"/>
              <a:t>. Ex : input -&gt; prompt -&gt; </a:t>
            </a:r>
            <a:r>
              <a:rPr lang="fr-FR" dirty="0" err="1"/>
              <a:t>llm</a:t>
            </a:r>
            <a:r>
              <a:rPr lang="fr-FR" dirty="0"/>
              <a:t> -&gt; </a:t>
            </a:r>
            <a:r>
              <a:rPr lang="fr-FR" dirty="0" err="1"/>
              <a:t>parser</a:t>
            </a:r>
            <a:r>
              <a:rPr lang="fr-FR" dirty="0"/>
              <a:t> -&gt; output</a:t>
            </a:r>
          </a:p>
          <a:p>
            <a:pPr marL="0" indent="0">
              <a:buNone/>
            </a:pPr>
            <a:r>
              <a:rPr lang="fr-FR" dirty="0"/>
              <a:t>+ important si différents choix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State : une mémoire commune à tous les nœuds , chaque ajout se stocke en plus dans un dictionnaire (clé : valeur)</a:t>
            </a:r>
          </a:p>
          <a:p>
            <a:endParaRPr lang="fr-FR" dirty="0"/>
          </a:p>
          <a:p>
            <a:r>
              <a:rPr lang="fr-FR" dirty="0"/>
              <a:t>Nœud : représente une étape. Ex : récupérer historique dans </a:t>
            </a:r>
            <a:r>
              <a:rPr lang="fr-FR" dirty="0" err="1"/>
              <a:t>Bdd</a:t>
            </a:r>
            <a:r>
              <a:rPr lang="fr-FR" dirty="0"/>
              <a:t> ou générer message</a:t>
            </a:r>
          </a:p>
          <a:p>
            <a:endParaRPr lang="fr-FR" dirty="0"/>
          </a:p>
          <a:p>
            <a:r>
              <a:rPr lang="fr-FR" dirty="0" err="1"/>
              <a:t>Edges</a:t>
            </a:r>
            <a:r>
              <a:rPr lang="fr-FR" dirty="0"/>
              <a:t> : donne la possibilité de diversifier les </a:t>
            </a:r>
            <a:r>
              <a:rPr lang="fr-FR" dirty="0" err="1"/>
              <a:t>executions</a:t>
            </a:r>
            <a:r>
              <a:rPr lang="fr-FR" dirty="0"/>
              <a:t> et pas juste d’</a:t>
            </a:r>
            <a:r>
              <a:rPr lang="fr-FR" dirty="0" err="1"/>
              <a:t>executer</a:t>
            </a:r>
            <a:r>
              <a:rPr lang="fr-FR" dirty="0"/>
              <a:t> juste une action. (Ex : ton chaleureux ou ton doux, etc…)</a:t>
            </a:r>
          </a:p>
          <a:p>
            <a:endParaRPr lang="fr-FR" dirty="0"/>
          </a:p>
          <a:p>
            <a:r>
              <a:rPr lang="fr-FR" dirty="0"/>
              <a:t>Analogie tapis roulant vs métro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053E12B-6697-10C6-0F43-F1ED50E420F1}"/>
              </a:ext>
            </a:extLst>
          </p:cNvPr>
          <p:cNvSpPr txBox="1"/>
          <p:nvPr/>
        </p:nvSpPr>
        <p:spPr>
          <a:xfrm>
            <a:off x="11641661" y="6439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552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74CE7-9C74-A23F-E21B-C6E3A109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 routeur : le cœur du système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FBEEB5-0DF7-7413-DDCA-FCB185D4C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err="1"/>
              <a:t>Routeur_selon_contexte</a:t>
            </a:r>
            <a:r>
              <a:rPr lang="fr-FR" dirty="0"/>
              <a:t>() : permet à partir d’information(s) d’aller vers un nœud en particulier (Ex du TP : 3 séance sport -&gt; 3 fois je suis mauvais = ton doux)</a:t>
            </a:r>
          </a:p>
          <a:p>
            <a:endParaRPr lang="fr-FR" dirty="0"/>
          </a:p>
          <a:p>
            <a:r>
              <a:rPr lang="fr-FR" dirty="0"/>
              <a:t>If : ordre important car si premier vrai alors ne regarde pas les autres</a:t>
            </a:r>
          </a:p>
          <a:p>
            <a:pPr marL="0" indent="0">
              <a:buNone/>
            </a:pPr>
            <a:r>
              <a:rPr lang="fr-FR" dirty="0"/>
              <a:t>(ex TP : dire -&gt; « je me suis fait mal au genoux », douleur = alerte et rien d’autre)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4 chemins -&gt; 1) parle de douleur = ton alerte, 2) sportif débutant (1 séance) = ton chaleureux, 3) 3 séances avec attitude négative = ton doux, 4) sportif régulier = ton motivant</a:t>
            </a:r>
          </a:p>
          <a:p>
            <a:pPr marL="0" indent="0">
              <a:buNone/>
            </a:pPr>
            <a:r>
              <a:rPr lang="fr-FR" dirty="0"/>
              <a:t>+ déclenchement : en fonction des informations données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5505F1E-E060-B766-5D28-9DA96C8DC967}"/>
              </a:ext>
            </a:extLst>
          </p:cNvPr>
          <p:cNvSpPr txBox="1"/>
          <p:nvPr/>
        </p:nvSpPr>
        <p:spPr>
          <a:xfrm>
            <a:off x="11641661" y="6439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5209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83A311-3DE4-2F36-62AC-C6596D77B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La mémoire SQLite et le RGPD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48B943-BF60-DCF4-D4B9-C2C2E37CF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SQLite : utilisé par rapport à dict en mémoire pour persistance des données</a:t>
            </a:r>
          </a:p>
          <a:p>
            <a:endParaRPr lang="fr-FR" dirty="0"/>
          </a:p>
          <a:p>
            <a:r>
              <a:rPr lang="fr-FR" dirty="0"/>
              <a:t>Historique avec informations des séances avant permet de changer de ton et donc la décision</a:t>
            </a:r>
          </a:p>
          <a:p>
            <a:endParaRPr lang="fr-FR" dirty="0"/>
          </a:p>
          <a:p>
            <a:r>
              <a:rPr lang="fr-FR" dirty="0"/>
              <a:t>Pouvoir supprimer ou exporter données utilisateurs, ou temps d’expiration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0AAA21D-BBE2-C86D-FA61-EE6F9CCA127A}"/>
              </a:ext>
            </a:extLst>
          </p:cNvPr>
          <p:cNvSpPr txBox="1"/>
          <p:nvPr/>
        </p:nvSpPr>
        <p:spPr>
          <a:xfrm>
            <a:off x="11641661" y="6439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33920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56ED3A-E722-A898-7F2F-4ECBD46F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Démo en captures d’écran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74E589-F048-A3BC-75F5-046B2E2AB11B}"/>
              </a:ext>
            </a:extLst>
          </p:cNvPr>
          <p:cNvSpPr txBox="1"/>
          <p:nvPr/>
        </p:nvSpPr>
        <p:spPr>
          <a:xfrm>
            <a:off x="2638211" y="1690688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Input : Cas 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5482D44-7D51-2C0C-33D8-69C427C5878A}"/>
              </a:ext>
            </a:extLst>
          </p:cNvPr>
          <p:cNvSpPr txBox="1"/>
          <p:nvPr/>
        </p:nvSpPr>
        <p:spPr>
          <a:xfrm>
            <a:off x="7788645" y="1656170"/>
            <a:ext cx="250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Choix ton routeur : Cas 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568B469-110B-82CA-C22A-D557FD6D9E75}"/>
              </a:ext>
            </a:extLst>
          </p:cNvPr>
          <p:cNvSpPr txBox="1"/>
          <p:nvPr/>
        </p:nvSpPr>
        <p:spPr>
          <a:xfrm>
            <a:off x="7788645" y="5549766"/>
            <a:ext cx="2377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Message généré : Cas 1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B96EC20-95AD-B59D-1DE4-87A02904B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50" y="5919098"/>
            <a:ext cx="10459910" cy="48584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86A04B1-A53C-52DE-D1CD-60EBA4940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960" y="2025502"/>
            <a:ext cx="2905530" cy="590632"/>
          </a:xfrm>
          <a:prstGeom prst="rect">
            <a:avLst/>
          </a:prstGeom>
        </p:spPr>
      </p:pic>
      <p:pic>
        <p:nvPicPr>
          <p:cNvPr id="26" name="Espace réservé du contenu 25">
            <a:extLst>
              <a:ext uri="{FF2B5EF4-FFF2-40B4-BE49-F238E27FC236}">
                <a16:creationId xmlns:a16="http://schemas.microsoft.com/office/drawing/2014/main" id="{E2F7E969-7136-7768-CCCA-DD7C2B369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07764" y="2060020"/>
            <a:ext cx="5398169" cy="3593638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488EEB0E-6D16-A1A0-7E21-F9B8469B75D7}"/>
              </a:ext>
            </a:extLst>
          </p:cNvPr>
          <p:cNvSpPr txBox="1"/>
          <p:nvPr/>
        </p:nvSpPr>
        <p:spPr>
          <a:xfrm>
            <a:off x="7586960" y="2855463"/>
            <a:ext cx="32641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Analyse : On voit que le prompt envoyer est bien lié à la douleur et la responsabilité, et que les données sont dynamiques en fonction du prompt envoyé. Que si il n’y a pas d’historique, renvoie une fonction qui envoie le nom du ton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567946-5655-752C-866F-1F555668DCC6}"/>
              </a:ext>
            </a:extLst>
          </p:cNvPr>
          <p:cNvSpPr txBox="1"/>
          <p:nvPr/>
        </p:nvSpPr>
        <p:spPr>
          <a:xfrm>
            <a:off x="11641661" y="6439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5498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B4D4F-E5E6-52ED-1C84-C6E9D27E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FCE7A1-A87F-C9C7-355A-B921D944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Démo en captures d’écran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4E4D387-EDBA-690E-C7F5-F2DA12A5C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4606" y="2136130"/>
            <a:ext cx="5350757" cy="333752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AACE6B5-09AF-1F08-C9CA-227619DAE4D1}"/>
              </a:ext>
            </a:extLst>
          </p:cNvPr>
          <p:cNvSpPr txBox="1"/>
          <p:nvPr/>
        </p:nvSpPr>
        <p:spPr>
          <a:xfrm>
            <a:off x="2783301" y="1690688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Input : Cas 2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25B2593-2401-21C3-35FD-B2FB359B6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513" y="3170846"/>
            <a:ext cx="2686425" cy="60968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3D35035-089A-AEC5-7FB7-EA9C268CC478}"/>
              </a:ext>
            </a:extLst>
          </p:cNvPr>
          <p:cNvSpPr txBox="1"/>
          <p:nvPr/>
        </p:nvSpPr>
        <p:spPr>
          <a:xfrm>
            <a:off x="7788645" y="2725404"/>
            <a:ext cx="250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Choix ton routeur : Cas 2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C0BA2A4-EA0C-C6FE-1998-295D28DC8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477" y="5772449"/>
            <a:ext cx="9752323" cy="48049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DE892440-929A-1EA9-8DF2-ADC2CB98C5CE}"/>
              </a:ext>
            </a:extLst>
          </p:cNvPr>
          <p:cNvSpPr txBox="1"/>
          <p:nvPr/>
        </p:nvSpPr>
        <p:spPr>
          <a:xfrm>
            <a:off x="7788645" y="5403117"/>
            <a:ext cx="2377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Message généré : Cas 2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51F2518-66B6-67C0-F19B-52AD53BBE98B}"/>
              </a:ext>
            </a:extLst>
          </p:cNvPr>
          <p:cNvSpPr txBox="1"/>
          <p:nvPr/>
        </p:nvSpPr>
        <p:spPr>
          <a:xfrm>
            <a:off x="11641661" y="6439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20352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4F8969-ACA0-21CA-A7E2-3A21221A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Limites et risques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684632-8D9F-4AC4-59CA-B16A343B0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Limites : Dépendance du LLM, le state grossit indéfiniment (+ on en ajoute et + il y en a), pas possibilité d’export ou suppression données</a:t>
            </a:r>
          </a:p>
          <a:p>
            <a:endParaRPr lang="fr-FR" dirty="0"/>
          </a:p>
          <a:p>
            <a:r>
              <a:rPr lang="fr-FR" dirty="0"/>
              <a:t>Améliorations : Ajout possibilité d’export et de suppression données pour RGPD, amélioration de l’interface (interface utilisateur ?)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25D7D40-60BE-FC90-43EC-8F251E174F2E}"/>
              </a:ext>
            </a:extLst>
          </p:cNvPr>
          <p:cNvSpPr txBox="1"/>
          <p:nvPr/>
        </p:nvSpPr>
        <p:spPr>
          <a:xfrm>
            <a:off x="11641661" y="64399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426369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Office PowerPoint</Application>
  <PresentationFormat>Grand écran</PresentationFormat>
  <Paragraphs>69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Coach IA bienveillant- Analyse du notebook</vt:lpstr>
      <vt:lpstr>Le problème métier</vt:lpstr>
      <vt:lpstr>Architecture globale</vt:lpstr>
      <vt:lpstr>LangChain en 3 minutes</vt:lpstr>
      <vt:lpstr>LanGraph en 3 minutes</vt:lpstr>
      <vt:lpstr>Le routeur : le cœur du système</vt:lpstr>
      <vt:lpstr>La mémoire SQLite et le RGPD</vt:lpstr>
      <vt:lpstr>Démo en captures d’écran</vt:lpstr>
      <vt:lpstr>Démo en captures d’écran</vt:lpstr>
      <vt:lpstr>Limites et risques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CHANEL</dc:creator>
  <cp:lastModifiedBy>Maxime CHANEL</cp:lastModifiedBy>
  <cp:revision>39</cp:revision>
  <dcterms:created xsi:type="dcterms:W3CDTF">2026-04-30T09:36:37Z</dcterms:created>
  <dcterms:modified xsi:type="dcterms:W3CDTF">2026-04-30T13:49:25Z</dcterms:modified>
</cp:coreProperties>
</file>